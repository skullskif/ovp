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1" r:id="rId3"/>
    <p:sldId id="279" r:id="rId4"/>
    <p:sldId id="283" r:id="rId5"/>
    <p:sldId id="281" r:id="rId6"/>
    <p:sldId id="280" r:id="rId7"/>
    <p:sldId id="275" r:id="rId8"/>
    <p:sldId id="276" r:id="rId9"/>
    <p:sldId id="286" r:id="rId10"/>
    <p:sldId id="257" r:id="rId11"/>
    <p:sldId id="284" r:id="rId12"/>
    <p:sldId id="287" r:id="rId13"/>
    <p:sldId id="288" r:id="rId14"/>
    <p:sldId id="289" r:id="rId15"/>
    <p:sldId id="285" r:id="rId16"/>
    <p:sldId id="282" r:id="rId1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DA"/>
    <a:srgbClr val="A5A5A5"/>
    <a:srgbClr val="4C5218"/>
    <a:srgbClr val="A1A1A1"/>
    <a:srgbClr val="AEAEAE"/>
    <a:srgbClr val="D24726"/>
    <a:srgbClr val="404040"/>
    <a:srgbClr val="FF9B45"/>
    <a:srgbClr val="DD462F"/>
    <a:srgbClr val="F8C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8" autoAdjust="0"/>
    <p:restoredTop sz="94241" autoAdjust="0"/>
  </p:normalViewPr>
  <p:slideViewPr>
    <p:cSldViewPr snapToGrid="0">
      <p:cViewPr varScale="1">
        <p:scale>
          <a:sx n="100" d="100"/>
          <a:sy n="100" d="100"/>
        </p:scale>
        <p:origin x="78" y="31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02.10.2026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82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3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468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194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550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592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2" y="262787"/>
            <a:ext cx="11682100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1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9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7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7" y="6203955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02.10.2026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1" y="62039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7" y="6203955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3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2" y="262787"/>
            <a:ext cx="11682100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9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7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1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9" y="448056"/>
            <a:ext cx="6876289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7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7" y="6203955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02.10.2026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1" y="62039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5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40" rtl="0" eaLnBrk="1" latinLnBrk="0" hangingPunct="1">
        <a:spcBef>
          <a:spcPct val="0"/>
        </a:spcBef>
        <a:buNone/>
        <a:defRPr sz="28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10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30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4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6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8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708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929" indent="-228610" algn="l" defTabSz="91444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148" indent="-228610" algn="l" defTabSz="91444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0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9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8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38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57" algn="l" defTabSz="91444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5621" y="1364350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Вооружение и оснащение войск радиационной, химической и биологической защиты ВС РФ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855621" y="3429004"/>
            <a:ext cx="9582736" cy="1137793"/>
          </a:xfrm>
        </p:spPr>
        <p:txBody>
          <a:bodyPr rtlCol="0">
            <a:normAutofit/>
          </a:bodyPr>
          <a:lstStyle/>
          <a:p>
            <a:r>
              <a:rPr lang="ru-RU" sz="2400" dirty="0">
                <a:latin typeface="+mj-lt"/>
              </a:rPr>
              <a:t>Выполнил: </a:t>
            </a:r>
            <a:r>
              <a:rPr lang="ru-RU" sz="2400" dirty="0" err="1">
                <a:latin typeface="+mj-lt"/>
              </a:rPr>
              <a:t>Рудцких</a:t>
            </a:r>
            <a:r>
              <a:rPr lang="ru-RU" sz="2400" dirty="0">
                <a:latin typeface="+mj-lt"/>
              </a:rPr>
              <a:t> Владислав ИВ322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88E50C-4975-763E-75CC-27590B6DA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05" b="89831" l="9714" r="90286">
                        <a14:foregroundMark x1="90286" y1="49153" x2="90286" y2="49153"/>
                        <a14:foregroundMark x1="44000" y1="88701" x2="44000" y2="887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193" y="3843892"/>
            <a:ext cx="2077078" cy="210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84398" y="105765"/>
            <a:ext cx="11365993" cy="640080"/>
          </a:xfrm>
        </p:spPr>
        <p:txBody>
          <a:bodyPr rtlCol="0">
            <a:no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Роль и задачи войск РХБЗ</a:t>
            </a:r>
          </a:p>
        </p:txBody>
      </p:sp>
      <p:sp>
        <p:nvSpPr>
          <p:cNvPr id="38" name="Объект 17"/>
          <p:cNvSpPr txBox="1">
            <a:spLocks/>
          </p:cNvSpPr>
          <p:nvPr/>
        </p:nvSpPr>
        <p:spPr>
          <a:xfrm>
            <a:off x="284398" y="1143708"/>
            <a:ext cx="5165256" cy="5048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Основные задачи:</a:t>
            </a:r>
          </a:p>
          <a:p>
            <a:pPr marL="0" indent="0">
              <a:spcAft>
                <a:spcPts val="600"/>
              </a:spcAft>
              <a:buNone/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Ведение радиационной, химической и биологической разведки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Аэрозольная маскировка войск и объектов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Специальная обработка (дегазация, дезактивация, дезинфекция)</a:t>
            </a:r>
          </a:p>
          <a:p>
            <a:pPr>
              <a:spcAft>
                <a:spcPts val="600"/>
              </a:spcAft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Огневое поражение противника термобарическими боеприпасами</a:t>
            </a:r>
          </a:p>
        </p:txBody>
      </p:sp>
      <p:pic>
        <p:nvPicPr>
          <p:cNvPr id="2050" name="Picture 2" descr="Состав радиационной, химической и биологической защиты">
            <a:extLst>
              <a:ext uri="{FF2B5EF4-FFF2-40B4-BE49-F238E27FC236}">
                <a16:creationId xmlns:a16="http://schemas.microsoft.com/office/drawing/2014/main" id="{7D321D0E-28F5-25DA-C941-DD1B7CC27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653" y="1143708"/>
            <a:ext cx="64579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B8B34-8AF2-EF34-A039-3C4795624D35}"/>
              </a:ext>
            </a:extLst>
          </p:cNvPr>
          <p:cNvSpPr txBox="1"/>
          <p:nvPr/>
        </p:nvSpPr>
        <p:spPr>
          <a:xfrm>
            <a:off x="6419807" y="5109357"/>
            <a:ext cx="4517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73D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радиационной, химической и биологической защиты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61972"/>
            <a:ext cx="9528049" cy="640080"/>
          </a:xfrm>
        </p:spPr>
        <p:txBody>
          <a:bodyPr rtlCol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50A18B-5E67-1C1B-6FC0-6C96D1C6B9FC}"/>
              </a:ext>
            </a:extLst>
          </p:cNvPr>
          <p:cNvSpPr txBox="1"/>
          <p:nvPr/>
        </p:nvSpPr>
        <p:spPr>
          <a:xfrm>
            <a:off x="521208" y="1090422"/>
            <a:ext cx="698449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РХБЗ: от АК-12 до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Шмеля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spcAft>
                <a:spcPts val="20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Стрелковое оружие - стандартное для ВС РФ.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Огнемётное - профильное для огнемётных подразделений.</a:t>
            </a:r>
          </a:p>
          <a:p>
            <a:pPr>
              <a:spcAft>
                <a:spcPts val="2000"/>
              </a:spcAft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68971-3BFE-0219-AFEF-644FB780190E}"/>
              </a:ext>
            </a:extLst>
          </p:cNvPr>
          <p:cNvSpPr txBox="1"/>
          <p:nvPr/>
        </p:nvSpPr>
        <p:spPr>
          <a:xfrm>
            <a:off x="521209" y="3771728"/>
            <a:ext cx="9921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Стрелковое вооружение: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АК-12 / АК-74М — 5,45×39 мм, основное индивидуальное оружие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ПКМ, РПК — пулемёты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СВД — снайперская винтовка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ПМ / ПЯ «Грач» — пистолеты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7E871F-5733-E254-EF41-BC60961F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b="4861"/>
          <a:stretch/>
        </p:blipFill>
        <p:spPr>
          <a:xfrm>
            <a:off x="6858000" y="3"/>
            <a:ext cx="5334000" cy="68580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F33CFF-8000-6EAA-73F3-8C4F388B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28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AEBAB2C9-8146-B7EB-E0E0-70BEFFDB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61972"/>
            <a:ext cx="9528049" cy="640080"/>
          </a:xfrm>
        </p:spPr>
        <p:txBody>
          <a:bodyPr rtlCol="0">
            <a:normAutofit/>
          </a:bodyPr>
          <a:lstStyle/>
          <a:p>
            <a:pPr rtl="0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Пехотное вооружение войск РХБЗ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7359B8-80E9-5271-5725-5FB1AC02DE06}"/>
              </a:ext>
            </a:extLst>
          </p:cNvPr>
          <p:cNvSpPr txBox="1"/>
          <p:nvPr/>
        </p:nvSpPr>
        <p:spPr>
          <a:xfrm>
            <a:off x="521207" y="812562"/>
            <a:ext cx="115280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Огнемётно-гранатомётное вооружение: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РПГ-7 - ручной противотанковый гранатомёт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РПО-А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- одноразовый реактивный пехотный огнемёт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РПО ПДМ-А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Шмель-М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модернизированный, увеличенная дальность и мощность</a:t>
            </a:r>
          </a:p>
          <a:p>
            <a:pPr marL="342914" indent="-342914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Ручные гранаты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осколочные и кумулятивные</a:t>
            </a:r>
          </a:p>
        </p:txBody>
      </p:sp>
      <p:pic>
        <p:nvPicPr>
          <p:cNvPr id="4102" name="Picture 6" descr="Ручные осколочные гранаты&quot;. Формат docx. Опубликовано 26.01.2022 в  22:54:08. Автор Адибаев Арман Кумисбекович">
            <a:extLst>
              <a:ext uri="{FF2B5EF4-FFF2-40B4-BE49-F238E27FC236}">
                <a16:creationId xmlns:a16="http://schemas.microsoft.com/office/drawing/2014/main" id="{936A4CF4-0215-5E9B-AA9F-9928BCF44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591" y="3859552"/>
            <a:ext cx="2179513" cy="283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Ручной противотанковый гранатомет РПГ-7В">
            <a:extLst>
              <a:ext uri="{FF2B5EF4-FFF2-40B4-BE49-F238E27FC236}">
                <a16:creationId xmlns:a16="http://schemas.microsoft.com/office/drawing/2014/main" id="{33C64412-C317-A43E-1E52-80223190A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31" b="88915" l="1786" r="97500">
                        <a14:foregroundMark x1="7786" y1="46882" x2="7786" y2="46882"/>
                        <a14:foregroundMark x1="3214" y1="46420" x2="3214" y2="46420"/>
                        <a14:foregroundMark x1="1786" y1="46882" x2="1786" y2="46882"/>
                        <a14:foregroundMark x1="93571" y1="45958" x2="93571" y2="45958"/>
                        <a14:foregroundMark x1="97500" y1="49654" x2="97500" y2="49654"/>
                        <a14:backgroundMark x1="3214" y1="51039" x2="3214" y2="510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6" y="4220159"/>
            <a:ext cx="6819900" cy="21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F7E181-27CE-19B2-B584-15D1D8892E6E}"/>
              </a:ext>
            </a:extLst>
          </p:cNvPr>
          <p:cNvSpPr txBox="1"/>
          <p:nvPr/>
        </p:nvSpPr>
        <p:spPr>
          <a:xfrm>
            <a:off x="7569113" y="6150470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РПГ-7</a:t>
            </a: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РПО ПДМ-А &quot;Шмель-М&quot; Реактивный пехотный огнемет повышенной дальности и  мощности">
            <a:extLst>
              <a:ext uri="{FF2B5EF4-FFF2-40B4-BE49-F238E27FC236}">
                <a16:creationId xmlns:a16="http://schemas.microsoft.com/office/drawing/2014/main" id="{DABDF573-C36E-98D2-C9C5-DDA8C60DF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976" y="574183"/>
            <a:ext cx="5566922" cy="175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5C6023C-39FD-8367-BFB1-90ACBEA8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73924"/>
              </p:ext>
            </p:extLst>
          </p:nvPr>
        </p:nvGraphicFramePr>
        <p:xfrm>
          <a:off x="333375" y="2621585"/>
          <a:ext cx="7858126" cy="38055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29151">
                  <a:extLst>
                    <a:ext uri="{9D8B030D-6E8A-4147-A177-3AD203B41FA5}">
                      <a16:colId xmlns:a16="http://schemas.microsoft.com/office/drawing/2014/main" val="986428015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3923528482"/>
                    </a:ext>
                  </a:extLst>
                </a:gridCol>
              </a:tblGrid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ТТХ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РПО ПДМ-А "Шмель-М"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118469"/>
                  </a:ext>
                </a:extLst>
              </a:tr>
              <a:tr h="60409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Калибр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 мм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782281"/>
                  </a:ext>
                </a:extLst>
              </a:tr>
              <a:tr h="53916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940 мм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988492"/>
                  </a:ext>
                </a:extLst>
              </a:tr>
              <a:tr h="391262"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Масса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8,8 кг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081431"/>
                  </a:ext>
                </a:extLst>
              </a:tr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Прицельная дальность стрельбы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 метров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73837"/>
                  </a:ext>
                </a:extLst>
              </a:tr>
              <a:tr h="757022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Максимальная дальность стрельбы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1700 метров</a:t>
                      </a:r>
                    </a:p>
                  </a:txBody>
                  <a:tcPr marL="25502" marR="25502" marT="12751" marB="127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565773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CBE4909C-3B1D-CE1F-9119-CE34B621C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5" y="2333628"/>
            <a:ext cx="238125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4FA73F-8161-79F2-B8DC-56E591923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A5F4788-649C-10B6-ABCE-836E7C63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093" y="1647826"/>
            <a:ext cx="6842656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F1546-DB8E-6336-26C2-4090AC20F7DB}"/>
              </a:ext>
            </a:extLst>
          </p:cNvPr>
          <p:cNvSpPr txBox="1"/>
          <p:nvPr/>
        </p:nvSpPr>
        <p:spPr>
          <a:xfrm>
            <a:off x="379773" y="419100"/>
            <a:ext cx="4413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РХМ-9 (на базе «Тайфун-К»)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DE631-F820-D18B-0644-6A094752FF38}"/>
              </a:ext>
            </a:extLst>
          </p:cNvPr>
          <p:cNvSpPr txBox="1"/>
          <p:nvPr/>
        </p:nvSpPr>
        <p:spPr>
          <a:xfrm>
            <a:off x="379773" y="1647824"/>
            <a:ext cx="438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Самый совершенный в своём классе образец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Новый приборный комплекс: скорость и дальность разведки увеличены в 2 раза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Встроенный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БпЛА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 видеокамерой и приборами радиационного контроля: дальность до 25 км, высота до 300 м</a:t>
            </a: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5DF5FDC-3A45-858D-1FC5-B988128E2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736" y="161518"/>
            <a:ext cx="4885656" cy="308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C0CA6350-329C-08BB-6BF9-1367257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4809" y="139039"/>
            <a:ext cx="4991100" cy="321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009A9488-3178-4545-190C-89EF26713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4811" y="3944495"/>
            <a:ext cx="4822023" cy="281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D1434573-A6EB-F311-E28E-27F3A92F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325" y="3903006"/>
            <a:ext cx="4853067" cy="28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3CF710-6594-CE49-D0D9-4206E41D34B9}"/>
              </a:ext>
            </a:extLst>
          </p:cNvPr>
          <p:cNvSpPr txBox="1"/>
          <p:nvPr/>
        </p:nvSpPr>
        <p:spPr>
          <a:xfrm>
            <a:off x="2172757" y="3221284"/>
            <a:ext cx="158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вид сбоку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14F9F-A6A1-0484-B7EC-4B9E23F8F39F}"/>
              </a:ext>
            </a:extLst>
          </p:cNvPr>
          <p:cNvSpPr txBox="1"/>
          <p:nvPr/>
        </p:nvSpPr>
        <p:spPr>
          <a:xfrm>
            <a:off x="2182031" y="3636720"/>
            <a:ext cx="1601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вид сзади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71259-1DF3-17CE-C94E-1AF6C01DB4A0}"/>
              </a:ext>
            </a:extLst>
          </p:cNvPr>
          <p:cNvSpPr txBox="1"/>
          <p:nvPr/>
        </p:nvSpPr>
        <p:spPr>
          <a:xfrm>
            <a:off x="8290141" y="3318256"/>
            <a:ext cx="2178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кабина водителя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C8938-E53C-0CB4-D60A-7EEB4102E19F}"/>
              </a:ext>
            </a:extLst>
          </p:cNvPr>
          <p:cNvSpPr txBox="1"/>
          <p:nvPr/>
        </p:nvSpPr>
        <p:spPr>
          <a:xfrm>
            <a:off x="8448677" y="3667276"/>
            <a:ext cx="1861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РХМ-9 задняя часть</a:t>
            </a:r>
          </a:p>
        </p:txBody>
      </p:sp>
    </p:spTree>
    <p:extLst>
      <p:ext uri="{BB962C8B-B14F-4D97-AF65-F5344CB8AC3E}">
        <p14:creationId xmlns:p14="http://schemas.microsoft.com/office/powerpoint/2010/main" val="255792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25692A-C346-6FBA-8E5B-4096D976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8" y="14042"/>
            <a:ext cx="7477125" cy="68439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B989AB-F966-AB72-760D-00EBB30AFED8}"/>
              </a:ext>
            </a:extLst>
          </p:cNvPr>
          <p:cNvSpPr txBox="1"/>
          <p:nvPr/>
        </p:nvSpPr>
        <p:spPr>
          <a:xfrm>
            <a:off x="0" y="505122"/>
            <a:ext cx="46101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ТОС-1А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Солнцепёк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классическая гусеничная система на базе танка Т-72, 24 термобарических снаряда, дальность до 6–10 км.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ТОС-2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Тосочка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мобильная колесная система на шасси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Урал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, 18 снарядов, дальность до 15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20 км, имеет собственный кран для зарядки.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ТОС-3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Дракон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новейшая защищенная гусеничная система, 15 снарядов, увеличенная дальность (до 15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25 км) для ударов из безопасной зоны.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352A6D-7B22-546B-C508-44D126B22010}"/>
              </a:ext>
            </a:extLst>
          </p:cNvPr>
          <p:cNvSpPr txBox="1"/>
          <p:nvPr/>
        </p:nvSpPr>
        <p:spPr>
          <a:xfrm>
            <a:off x="118253" y="162284"/>
            <a:ext cx="5063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Средства специальной обработки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2150F-FC93-0A10-C31D-81ACB19CD7F1}"/>
              </a:ext>
            </a:extLst>
          </p:cNvPr>
          <p:cNvSpPr txBox="1"/>
          <p:nvPr/>
        </p:nvSpPr>
        <p:spPr>
          <a:xfrm>
            <a:off x="118253" y="623949"/>
            <a:ext cx="69683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АРС-14КМ (авторазливочная станция)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Дегазация, дезактивация, дезинфекция техники и местности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Создание аэрозольных завес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Транспортировка и хранение растворов</a:t>
            </a:r>
          </a:p>
        </p:txBody>
      </p:sp>
      <p:pic>
        <p:nvPicPr>
          <p:cNvPr id="8194" name="Picture 2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DC356F9D-080F-2445-1780-9EA69F57B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9" y="3757535"/>
            <a:ext cx="4481531" cy="298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6B9B409C-1FDD-5254-319D-DA034182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84" y="162284"/>
            <a:ext cx="4486524" cy="336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АРС-14КМ. Автомойка апокалипсиса на колёсах | Пикабу">
            <a:extLst>
              <a:ext uri="{FF2B5EF4-FFF2-40B4-BE49-F238E27FC236}">
                <a16:creationId xmlns:a16="http://schemas.microsoft.com/office/drawing/2014/main" id="{EE7139CC-FFC6-E761-F09C-2A08E891B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83" y="3757535"/>
            <a:ext cx="4486524" cy="298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01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0C0A8-3373-9EBA-07C7-50C2EAAC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58" y="248031"/>
            <a:ext cx="6877119" cy="640080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Робототехнические комплексы и беспилотные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C0824-F9B9-C3BE-1B22-F653C454CC10}"/>
              </a:ext>
            </a:extLst>
          </p:cNvPr>
          <p:cNvSpPr txBox="1"/>
          <p:nvPr/>
        </p:nvSpPr>
        <p:spPr>
          <a:xfrm>
            <a:off x="311658" y="1069086"/>
            <a:ext cx="76321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Наземные роботы: разведка на удалении до 6 км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БпЛА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радиус действия до 25 км по передаче информации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Наземные роботы для постановки аэрозольных завес: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Установка дымовых шашек без риска для расчёта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Беспилотники в огнемётных подразделениях: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FPV-дроны для доставки боеприпасов и корректировки огня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Дроны с огнемётом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Шмель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- дистанционное огневое поражение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Наземная роботизированная платформа НРТК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Курьер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 одноразовыми огнемётами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мини-ТОС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4D18B-5168-923A-6340-393E1AE61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1" y="1346981"/>
            <a:ext cx="4152806" cy="209392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E1359C4-E761-D727-3D27-887F44E5E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50" y="3807713"/>
            <a:ext cx="4152806" cy="264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67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FBF4D-3F16-6079-8F80-75FA435E6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83" y="190500"/>
            <a:ext cx="6877119" cy="400049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Безэкипажные катера (БЭК) в войсках РХБЗ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7DFE0-B178-3305-0508-5CB12BF44F86}"/>
              </a:ext>
            </a:extLst>
          </p:cNvPr>
          <p:cNvSpPr txBox="1"/>
          <p:nvPr/>
        </p:nvSpPr>
        <p:spPr>
          <a:xfrm>
            <a:off x="95250" y="665857"/>
            <a:ext cx="65913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Задачи БЭК: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РХБ-разведка акваторий рек, озёр и прибрежных зон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Постановка дымовых завес для защиты портов, переправ и береговых объектов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Форсирование рек и десантные операции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Нанесение ударов по противнику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Ключевое преимущество: Работа в зонах высокого заражения полностью исключает риск для личного состава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Оснащение:Газоанализаторы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дозиметры, приборы РХБ-разведки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средства дымопуска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Возможна установка реактивных огнемётов и боевых модулей для самообороны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87C3EF-831A-57AF-CADD-97BA1303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198" y="1455599"/>
            <a:ext cx="5526802" cy="414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3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93762-97AC-D9F3-8E66-2ACD1F54D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4" y="152781"/>
            <a:ext cx="6698742" cy="418719"/>
          </a:xfrm>
        </p:spPr>
        <p:txBody>
          <a:bodyPr>
            <a:normAutofit fontScale="90000"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Мобильная лазерная установка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3CF0C-54D0-D874-EDB7-49D8A043DF1F}"/>
              </a:ext>
            </a:extLst>
          </p:cNvPr>
          <p:cNvSpPr txBox="1"/>
          <p:nvPr/>
        </p:nvSpPr>
        <p:spPr>
          <a:xfrm>
            <a:off x="149735" y="771525"/>
            <a:ext cx="69940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Назначение: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Поражение беспилотных летательных аппаратов (БПЛА) различных классов: от малых FPV-коптеров до крупных дронов.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Противодействие воздушной разведке и атакам с воздуха.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Прикрытие мобильных пунктов управления, колонн и объектов РХБЗ.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40B153-1D46-84D0-BDD2-C906EC89A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75" y="632783"/>
            <a:ext cx="4393690" cy="279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12A1FC-DCC0-4970-B21B-6DD768CAF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76" y="3653791"/>
            <a:ext cx="4393690" cy="29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97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7CDDE5-6B3B-6775-8530-155C1CBAA14C}"/>
              </a:ext>
            </a:extLst>
          </p:cNvPr>
          <p:cNvSpPr txBox="1"/>
          <p:nvPr/>
        </p:nvSpPr>
        <p:spPr>
          <a:xfrm>
            <a:off x="352425" y="250537"/>
            <a:ext cx="2669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7EB2D-D3B3-C5AE-2E21-021BFFEC7952}"/>
              </a:ext>
            </a:extLst>
          </p:cNvPr>
          <p:cNvSpPr txBox="1"/>
          <p:nvPr/>
        </p:nvSpPr>
        <p:spPr>
          <a:xfrm>
            <a:off x="352425" y="1111539"/>
            <a:ext cx="117694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 последние годы в войска РХБЗ поступило более 20 новых образцов вооружения и средств защиты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Ключевые направления развития: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управления огнём и разведкой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Роботизация опасных операций (разведка, задымление, огневое поражение)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Интеграция с БПЛА для расширения зоны контроля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Увеличение дальности стрельбы огнемётных систем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Войска РХБЗ остаются одним из наиболее технологично развивающихся родов войск ВС РФ</a:t>
            </a:r>
          </a:p>
        </p:txBody>
      </p:sp>
    </p:spTree>
    <p:extLst>
      <p:ext uri="{BB962C8B-B14F-4D97-AF65-F5344CB8AC3E}">
        <p14:creationId xmlns:p14="http://schemas.microsoft.com/office/powerpoint/2010/main" val="92410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9FB268-11E1-B98D-AA4B-E7E41C1290C7}"/>
              </a:ext>
            </a:extLst>
          </p:cNvPr>
          <p:cNvSpPr txBox="1"/>
          <p:nvPr/>
        </p:nvSpPr>
        <p:spPr>
          <a:xfrm>
            <a:off x="2882622" y="3013503"/>
            <a:ext cx="65982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{B759803D-7546-41B1-B6C5-6AF12A4B047E}TF2989475c-5427-4edb-9ec1-00f4ce72165b8cae7013_win32-72884f2072f2</Template>
  <TotalTime>279</TotalTime>
  <Words>601</Words>
  <Application>Microsoft Office PowerPoint</Application>
  <PresentationFormat>Широкоэкранный</PresentationFormat>
  <Paragraphs>118</Paragraphs>
  <Slides>16</Slides>
  <Notes>9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Segoe UI Light</vt:lpstr>
      <vt:lpstr>Пользовательские</vt:lpstr>
      <vt:lpstr>Вооружение и оснащение войск радиационной, химической и биологической защиты ВС РФ</vt:lpstr>
      <vt:lpstr>Роль и задачи войск РХБЗ</vt:lpstr>
      <vt:lpstr>Пехотное вооружение войск РХБЗ</vt:lpstr>
      <vt:lpstr>Презентация PowerPoint</vt:lpstr>
      <vt:lpstr>Пехотное вооружение войск РХБЗ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Робототехнические комплексы и беспилотные системы</vt:lpstr>
      <vt:lpstr>Безэкипажные катера (БЭК) в войсках РХБЗ</vt:lpstr>
      <vt:lpstr>Мобильная лазерная установка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Skull Skif</dc:creator>
  <cp:keywords/>
  <cp:lastModifiedBy>Skull Skif</cp:lastModifiedBy>
  <cp:revision>4</cp:revision>
  <dcterms:created xsi:type="dcterms:W3CDTF">2026-09-30T20:25:16Z</dcterms:created>
  <dcterms:modified xsi:type="dcterms:W3CDTF">2026-10-02T18:29:56Z</dcterms:modified>
  <cp:version/>
</cp:coreProperties>
</file>